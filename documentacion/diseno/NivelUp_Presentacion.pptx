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9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000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943600" cy="5943600"/>
          </a:xfrm>
          <a:prstGeom prst="ellipse">
            <a:avLst/>
          </a:prstGeom>
          <a:solidFill>
            <a:srgbClr val="8B5CF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474720"/>
            <a:ext cx="6400800" cy="6400800"/>
          </a:xfrm>
          <a:prstGeom prst="ellipse">
            <a:avLst/>
          </a:prstGeom>
          <a:solidFill>
            <a:srgbClr val="FF4FA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146304" cy="146304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548640"/>
            <a:ext cx="146304" cy="146304"/>
          </a:xfrm>
          <a:prstGeom prst="ellipse">
            <a:avLst/>
          </a:prstGeom>
          <a:solidFill>
            <a:srgbClr val="F7C948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548640"/>
            <a:ext cx="146304" cy="146304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F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nivelup — deploy@ubuntu:~$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INVESTIGATIVO · SISTEMAS OPERATIVOS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NivelUp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21792" y="324612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y despliegue de un sitio web dinámico sobre una pila LAMP en Ubuntu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1792" y="3794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estudio: NivelUp — taller y tienda de computadores para videojuegos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617720"/>
            <a:ext cx="10972800" cy="1600200"/>
          </a:xfrm>
          <a:prstGeom prst="roundRect">
            <a:avLst>
              <a:gd name="adj" fmla="val 5714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7731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PONTIFICIA UNIVERSIDAD CATÓLICA DEL ECUADOR — SEDE ESMERALDAS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505663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de Desarrollo de Software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5687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Geovanny  ·  Piero García Olivo  ·  Anelys Penélope Valencia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8096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80960" y="5687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Chrisbel Paulette Simisterra Batallas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INVESTIGACIÓN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nos propusimos lograr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22254A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756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poner en marcha una página web dinámica y adaptable usando una pila LAMP en un servidor Ubuntu, aplicando administración de procesos, usuarios, permisos y conexión remota segura.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440680" cy="713232"/>
          </a:xfrm>
          <a:prstGeom prst="roundRect">
            <a:avLst>
              <a:gd name="adj" fmla="val 12821"/>
            </a:avLst>
          </a:prstGeom>
          <a:solidFill>
            <a:srgbClr val="1B1E3C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3108960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9535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con claridad el contenido estático del contenido dinámico almacenado en MySQL.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5440680" cy="713232"/>
          </a:xfrm>
          <a:prstGeom prst="roundRect">
            <a:avLst>
              <a:gd name="adj" fmla="val 12821"/>
            </a:avLst>
          </a:prstGeom>
          <a:solidFill>
            <a:srgbClr val="1B1E3C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959352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80390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funcionalidades interactivas (responsivo, modo claro/oscuro, carrusel, galería, validación) sin frameworks externos.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5440680" cy="713232"/>
          </a:xfrm>
          <a:prstGeom prst="roundRect">
            <a:avLst>
              <a:gd name="adj" fmla="val 12821"/>
            </a:avLst>
          </a:prstGeom>
          <a:solidFill>
            <a:srgbClr val="1B1E3C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80974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465429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un host virtual de Apache que conviva con los servicios ya existentes en el servidor.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2880360"/>
            <a:ext cx="5440680" cy="713232"/>
          </a:xfrm>
          <a:prstGeom prst="roundRect">
            <a:avLst>
              <a:gd name="adj" fmla="val 12821"/>
            </a:avLst>
          </a:prstGeom>
          <a:solidFill>
            <a:srgbClr val="1B1E3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19088" y="3108960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19088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29535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permisos de archivos bajo el principio de menor privilegio.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3730752"/>
            <a:ext cx="5440680" cy="713232"/>
          </a:xfrm>
          <a:prstGeom prst="roundRect">
            <a:avLst>
              <a:gd name="adj" fmla="val 12821"/>
            </a:avLst>
          </a:prstGeom>
          <a:solidFill>
            <a:srgbClr val="1B1E3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9088" y="3959352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380390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el funcionamiento integral de la pila, del navegador a la base de datos.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FF4FA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FUNDAMENTACIÓN TEÓRICA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pila LAMP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210312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 base. Gestiona memoria, archivos de usuario y archivos del sistema.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178308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103120"/>
            <a:ext cx="822960" cy="822960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1188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36118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web. Lee solicitudes HTTP desde un puerto TCP y decide qué recurso enviar.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78308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23760" y="2103120"/>
            <a:ext cx="822960" cy="822960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922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36118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base de datos. Mantiene el almacenamiento de forma permanente y estructurada.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89720" y="1783080"/>
            <a:ext cx="2651760" cy="3749040"/>
          </a:xfrm>
          <a:prstGeom prst="roundRect">
            <a:avLst>
              <a:gd name="adj" fmla="val 344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104120" y="2103120"/>
            <a:ext cx="822960" cy="822960"/>
          </a:xfrm>
          <a:prstGeom prst="ellipse">
            <a:avLst/>
          </a:prstGeom>
          <a:solidFill>
            <a:srgbClr val="F7C948"/>
          </a:solidFill>
          <a:ln/>
        </p:spPr>
      </p:sp>
      <p:sp>
        <p:nvSpPr>
          <p:cNvPr id="22" name="Text 20"/>
          <p:cNvSpPr/>
          <p:nvPr/>
        </p:nvSpPr>
        <p:spPr>
          <a:xfrm>
            <a:off x="1010412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31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37260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0" y="36118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del lado del servidor. Genera HTML dinámico y conecta Apache con MySQL.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nunca recibe el script PHP: Apache lo envía al intérprete y devuelve HTML ya formado. El código fuente y las claves de la base de datos permanecen siempre en el servidor.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114800"/>
            <a:ext cx="5486400" cy="54864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FUNDAMENTACIÓN TEÓRICA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Convivencia, permisos y acceso seguro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90572"/>
            <a:ext cx="402336" cy="40233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947672"/>
            <a:ext cx="27432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Hosts virtuales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34840" y="1947672"/>
            <a:ext cx="70408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servidor puede alojar varios sitios. La discriminación se hace por dominio o, como en este proyecto, por número de puerto — sin necesitar un servidor de nombres local. Cada sitio conserva su propio directorio, configuración y registros.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909060"/>
            <a:ext cx="402336" cy="402336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3566160"/>
            <a:ext cx="27432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Permisos POSIX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34840" y="3566160"/>
            <a:ext cx="70408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archivo tiene propietario, grupo y permisos de lectura/escritura/ejecución. Apache corre como la cuenta restringida www-data, no como superusuario: se le otorga solo lo necesario para leer, nunca para modificar.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020056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5527548"/>
            <a:ext cx="402336" cy="40233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5184648"/>
            <a:ext cx="27432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y firewall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434840" y="5184648"/>
            <a:ext cx="704088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cifra la autenticación y toda la sesión; se recomienda autenticación por par de claves y deshabilitar el acceso remoto de root. UFW filtra el tráfico con una política de negar todo por defecto.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4FA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 de despliegue y arquitectura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VERIFICADO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46120" y="2331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22.04.5 LTS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706624"/>
            <a:ext cx="5120640" cy="402336"/>
          </a:xfrm>
          <a:prstGeom prst="rect">
            <a:avLst/>
          </a:prstGeom>
          <a:solidFill>
            <a:srgbClr val="22254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340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46120" y="27340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2.4.52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136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46120" y="31363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8.0.46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11296"/>
            <a:ext cx="5120640" cy="402336"/>
          </a:xfrm>
          <a:prstGeom prst="rect">
            <a:avLst/>
          </a:prstGeom>
          <a:solidFill>
            <a:srgbClr val="22254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38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Intérprete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46120" y="3538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8.1.2 + php-mysql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39410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remoto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46120" y="394106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SSH, puerto 22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315968"/>
            <a:ext cx="5120640" cy="402336"/>
          </a:xfrm>
          <a:prstGeom prst="rect">
            <a:avLst/>
          </a:prstGeom>
          <a:solidFill>
            <a:srgbClr val="22254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del sitio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46120" y="4343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/var/www/nivelup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47457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del sitio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46120" y="474573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1783080"/>
            <a:ext cx="5486400" cy="4343400"/>
          </a:xfrm>
          <a:prstGeom prst="roundRect">
            <a:avLst>
              <a:gd name="adj" fmla="val 2105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APLICACIÓN PHP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235915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2359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header.php / footer.php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26151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y pie de página incluidos con require_once en todas las vistas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46520" y="307238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20840" y="3072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functions.php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33284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comunes y datos que cambian poco (servicios, FAQ)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46520" y="378561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20840" y="37856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db.php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20840" y="4041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y consultas a la base de datos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46520" y="449884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20840" y="4498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config.php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2084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de acceso, aisladas por seguridad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46520" y="5212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720840" y="5212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páginas + includes/, css/, js/, img/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20840" y="5468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sección por archivo — fácil de repartir y mantener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200400"/>
            <a:ext cx="5486400" cy="54864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registros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categoría, descripción, precio e indicador destacado del catálogo.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0116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F4FA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registros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publicaciones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30175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Título, identificador, resumen, contenido, autor y fecha de cada entrada del blog.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0116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35D07F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66760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mensajes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6760" y="30175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Envíos del formulario de contacto: fecha, hora y dirección IP de origen.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22254A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864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MENOR PRIVILEGIO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1389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de base de datos exclusivo para la app, con permisos limitados a consultar y agregar en el esquema de NivelUp, sin acceso al esquema de WordPress. Las declaraciones preparadas mantienen las instrucciones SQL separadas de los datos ingresados por el usuario, previniendo inyección SQL.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FF4FA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en siete etapas verificadas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Transferencia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-r site → /tmp por canal SSH cifrado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64992" y="17830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19659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47872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47872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/var/www/nivelup, fuera del árbol de WordPress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81344" y="17830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64224" y="19659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6422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64224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Propiedad y permisos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64224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chown daniel_farias:www-data · 750 dirs / 640 archivos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97696" y="178308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0576" y="196596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9180576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80576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 de BD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80576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SQL: usuario, 3 tablas y datos iniciales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virtual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31520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8080, directorio raíz y reglas de seguridad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64992" y="379476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47872" y="39776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354787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547872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Habilitar y probar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547872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apache2ctl configtest → systemctl reload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81344" y="379476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64224" y="3977640"/>
            <a:ext cx="457200" cy="457200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37" name="Text 35"/>
          <p:cNvSpPr/>
          <p:nvPr/>
        </p:nvSpPr>
        <p:spPr>
          <a:xfrm>
            <a:off x="6364224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364224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Comprobación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364224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sirve 80 y 8080 de forma simultánea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029200" cy="50292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Medidas de endurecimiento del servidor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90572"/>
            <a:ext cx="219456" cy="21945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9202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Options -Indexes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286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listar el contenido de un directorio sin archivo índice.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290572"/>
            <a:ext cx="219456" cy="21945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19202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 all denied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12280" y="2286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el acceso directo al directorio includes/ con las credenciales.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726180"/>
            <a:ext cx="219456" cy="21945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3558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ServerSignature Off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7216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 la versión de Apache y del sistema operativo en páginas de error.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218688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3726180"/>
            <a:ext cx="219456" cy="21945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335584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Registros independientes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37216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error y acceso separados de los de WordPress.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5161788"/>
            <a:ext cx="219456" cy="21945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79145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por llaves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515721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remoto de root deshabilitado; se exige clave privada.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4654296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5161788"/>
            <a:ext cx="219456" cy="21945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479145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UFW por defecto denegado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515721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abren los puertos necesarios para SSH y el sitio.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FF4FA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del despliegue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 OK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de Apache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y 8080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20440" y="3017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en escucha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55080" y="3017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desplegados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178308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89720" y="3017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Esquemas coexistentes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251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" y="5166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creadas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93192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20440" y="4251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520440" y="5166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iniciales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93192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5080" y="4251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750 / 640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355080" y="5166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dir. / archivo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52560" y="393192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89720" y="4251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Operativo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189720" y="5166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previo (WordPress)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integral: del navegador a la base de datos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57300" y="21945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Navegador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completa el formulario de contacto; JS valida en el cliente.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32888" y="27432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70632" y="196596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9292" y="2194560"/>
            <a:ext cx="548640" cy="548640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13" name="Text 11"/>
          <p:cNvSpPr/>
          <p:nvPr/>
        </p:nvSpPr>
        <p:spPr>
          <a:xfrm>
            <a:off x="3479292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07792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07792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solicitud HTTP y la enruta al intérprete PHP.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92624" y="196596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01284" y="21945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5701284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29784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9784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a validar en el servidor y prepara la consulta.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76872" y="27432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214616" y="196596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23276" y="2194560"/>
            <a:ext cx="548640" cy="548640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25" name="Text 23"/>
          <p:cNvSpPr/>
          <p:nvPr/>
        </p:nvSpPr>
        <p:spPr>
          <a:xfrm>
            <a:off x="792327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51776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51776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 mensaje en nivelup.messages.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98864" y="274320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436608" y="196596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45268" y="21945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1014526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573768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573768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consulta la tabla de forma remota para confirmar el registro.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434840"/>
            <a:ext cx="11109960" cy="1463040"/>
          </a:xfrm>
          <a:prstGeom prst="roundRect">
            <a:avLst>
              <a:gd name="adj" fmla="val 6250"/>
            </a:avLst>
          </a:prstGeom>
          <a:solidFill>
            <a:srgbClr val="22254A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4590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CONFIRMADO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864608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id, name, subject, sent_on FROM nivelup.messages; devolvió el registro esperado el 31 de julio de 2026, a las 23:11:03 — confirmando la operación conjunta de Apache, PHP, MySQL y Linux (procesos, permisos y SSH).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FF4FA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 de los requisitos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291840" cy="4343400"/>
          </a:xfrm>
          <a:prstGeom prst="roundRect">
            <a:avLst>
              <a:gd name="adj" fmla="val 2778"/>
            </a:avLst>
          </a:prstGeom>
          <a:solidFill>
            <a:srgbClr val="22254A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834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4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/ 23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la guía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0" y="178308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0" y="2011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114800" y="3017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ofrecidos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36992" y="178308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36992" y="2011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936992" y="3017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en catálogo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0" y="4050792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0" y="42793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114800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de blog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36992" y="4050792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36992" y="42793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936992" y="52852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frecuentes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 por el sitio — parte 1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E3C"/>
          </a:solidFill>
          <a:ln w="12700">
            <a:solidFill>
              <a:srgbClr val="2225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figs/img-00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938528"/>
            <a:ext cx="5175504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611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· banner y llamada a la acción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E3C"/>
          </a:solidFill>
          <a:ln w="12700">
            <a:solidFill>
              <a:srgbClr val="2225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figs/img-002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73368" y="1938528"/>
            <a:ext cx="5175504" cy="1645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3611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· misión, visión y valores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42519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E3C"/>
          </a:solidFill>
          <a:ln w="12700">
            <a:solidFill>
              <a:srgbClr val="2225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2" name="Image 2" descr="figs/img-013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68" y="4361688"/>
            <a:ext cx="5175504" cy="1645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6035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· seis servicios del taller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263640" y="42519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E3C"/>
          </a:solidFill>
          <a:ln w="12700">
            <a:solidFill>
              <a:srgbClr val="2225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3" descr="figs/img-005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73368" y="4361688"/>
            <a:ext cx="5175504" cy="1645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0800" y="6035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· ocho productos filtrables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 por el sitio — parte 2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E3C"/>
          </a:solidFill>
          <a:ln w="12700">
            <a:solidFill>
              <a:srgbClr val="2225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figs/img-00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1938528"/>
            <a:ext cx="5175504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611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· interactiva, filtrable por categoría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E3C"/>
          </a:solidFill>
          <a:ln w="12700">
            <a:solidFill>
              <a:srgbClr val="2225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figs/img-007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73368" y="1938528"/>
            <a:ext cx="5175504" cy="1645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3611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· cinco publicaciones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42519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E3C"/>
          </a:solidFill>
          <a:ln w="12700">
            <a:solidFill>
              <a:srgbClr val="2225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2" name="Image 2" descr="figs/img-008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68" y="4361688"/>
            <a:ext cx="5175504" cy="1645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6035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frecuentes · acordeón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263640" y="42519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B1E3C"/>
          </a:solidFill>
          <a:ln w="12700">
            <a:solidFill>
              <a:srgbClr val="22254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3" descr="figs/img-009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73368" y="4361688"/>
            <a:ext cx="5175504" cy="1645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0800" y="6035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· formulario y mapa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FF4FA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acción y limitaciones actuales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404872"/>
            <a:ext cx="128016" cy="12801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3317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Ubuntu Server (sin entorno gráfico)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026664"/>
            <a:ext cx="128016" cy="12801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9535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la IP del servidor (DHCP → reserva o estática)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648456"/>
            <a:ext cx="128016" cy="12801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57530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cifrado TLS al sitio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270248"/>
            <a:ext cx="128016" cy="12801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19709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Deshabilitar el servicio Telnet heredado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892040"/>
            <a:ext cx="128016" cy="12801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81888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marcadores provisionales por material final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513832"/>
            <a:ext cx="128016" cy="128016"/>
          </a:xfrm>
          <a:prstGeom prst="ellipse">
            <a:avLst/>
          </a:prstGeom>
          <a:solidFill>
            <a:srgbClr val="35D07F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4406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arquitectura y respaldos periódicos de MySQL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783080"/>
            <a:ext cx="5486400" cy="4343400"/>
          </a:xfrm>
          <a:prstGeom prst="roundRect">
            <a:avLst>
              <a:gd name="adj" fmla="val 2105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ACTUALES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2404872"/>
            <a:ext cx="128016" cy="128016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23317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edición escritorio, no servidor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3026664"/>
            <a:ext cx="128016" cy="128016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295351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asignada por DHCP: puede cambiar entre reinicios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3648456"/>
            <a:ext cx="128016" cy="128016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57530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por HTTP sin cifrar (falta TLS)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46520" y="4270248"/>
            <a:ext cx="128016" cy="128016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419709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Telnet activo, heredado de una tarea anterior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46520" y="4892040"/>
            <a:ext cx="128016" cy="128016"/>
          </a:xfrm>
          <a:prstGeom prst="ellipse">
            <a:avLst/>
          </a:prstGeom>
          <a:solidFill>
            <a:srgbClr val="FF4FA3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481888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gráficos finales aún en reemplazo (placeholders)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114800"/>
            <a:ext cx="5486400" cy="54864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objetivos del proyecto se lograron: NivelUp quedó instalado y funcionando sobre una pila LAMP en Ubuntu, con todas las secciones y funcionalidades requeridas.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1168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host virtual por puerto permitió sumar el nuevo sitio a un servidor ya en producción, sin afectar los servicios existentes (WordPress incluido).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420624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permisos del sistema de archivos resultaron tan determinantes como el código: un descuido ahí habría impedido que Apache sirviera el sitio.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3977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420624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la estructura del sitio del contenido permitió cambiar el tema del proyecto (de ciberseguridad a taller de computadoras) sin tocar el código ni el despliegue.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Sistemas Operativos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943600" cy="5943600"/>
          </a:xfrm>
          <a:prstGeom prst="ellipse">
            <a:avLst/>
          </a:prstGeom>
          <a:solidFill>
            <a:srgbClr val="8B5CF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474720"/>
            <a:ext cx="6400800" cy="6400800"/>
          </a:xfrm>
          <a:prstGeom prst="ellipse">
            <a:avLst/>
          </a:prstGeom>
          <a:solidFill>
            <a:srgbClr val="FF4FA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21792" y="2880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C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 sobre NivelUp y su despliegue en LAMP?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420624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44622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Geovanny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y despliegue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420624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44622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Piero García Olivo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4892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y contenido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420624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B1E3C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44622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Anelys Penélope Valencia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4892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maquetación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NivelUp — PUCE Esmeraldas · Agosto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1471</Words>
  <Application>Microsoft Office PowerPoint</Application>
  <PresentationFormat>Panorámica</PresentationFormat>
  <Paragraphs>273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Geovanny Daniel Farias Estupinan</cp:lastModifiedBy>
  <cp:revision>1</cp:revision>
  <dcterms:created xsi:type="dcterms:W3CDTF">2026-08-07T21:32:40Z</dcterms:created>
  <dcterms:modified xsi:type="dcterms:W3CDTF">2026-08-08T03:34:37Z</dcterms:modified>
</cp:coreProperties>
</file>